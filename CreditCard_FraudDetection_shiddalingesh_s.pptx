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89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E2E60">
              <a:alpha val="60000"/>
            </a:srgbClr>
          </a:solidFill>
          <a:ln w="12700">
            <a:solidFill>
              <a:srgbClr val="1E2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292608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 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3584448"/>
            <a:ext cx="5029200" cy="36576"/>
          </a:xfrm>
          <a:prstGeom prst="rect">
            <a:avLst/>
          </a:prstGeom>
          <a:solidFill>
            <a:srgbClr val="8FA8C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Shiddalingesh</a:t>
            </a:r>
            <a:r>
              <a:rPr lang="en-US" sz="130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  |  Prediction of Credit Card Fraud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553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CF8"/>
                </a:solidFill>
              </a:rPr>
              <a:t>284,807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4553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CF8"/>
                </a:solidFill>
              </a:rPr>
              <a:t>492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4828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</a:rPr>
              <a:t>Fraudulent Cases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4553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CF8"/>
                </a:solidFill>
              </a:rPr>
              <a:t>0.172%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828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</a:rPr>
              <a:t>Fraud Rate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4553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CF8"/>
                </a:solidFill>
              </a:rPr>
              <a:t>2 Days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4828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</a:rPr>
              <a:t>Data Window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40233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Credit Card Fraud?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 card fraud is the unauthorized use of someone else's credit card or credit card information to make purchases or withdraw cash.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Though credit cards offer convenient financial management, they carry significant risks. Fraudulent transactions cause financial harm to cardholders and erode trust in payment systems.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 classification model to predict whether a transaction is fraudulent or not, enabling credit card companies to protect customers from unauthorized charges.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 cardholders from fraud losses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 real-time transaction screening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Minimize false positives for legitimate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Generalize to unseen transaction patterns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920240" cy="1371600"/>
          </a:xfrm>
          <a:prstGeom prst="rect">
            <a:avLst/>
          </a:prstGeom>
          <a:solidFill>
            <a:srgbClr val="1E2E60"/>
          </a:solidFill>
          <a:ln w="254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</a:rPr>
              <a:t>284,807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Total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097280"/>
            <a:ext cx="1920240" cy="1371600"/>
          </a:xfrm>
          <a:prstGeom prst="rect">
            <a:avLst/>
          </a:prstGeom>
          <a:solidFill>
            <a:srgbClr val="1E2E60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</a:rPr>
              <a:t>492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Fraudulent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97280"/>
            <a:ext cx="1920240" cy="1371600"/>
          </a:xfrm>
          <a:prstGeom prst="rect">
            <a:avLst/>
          </a:prstGeom>
          <a:solidFill>
            <a:srgbClr val="1E2E60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</a:rPr>
              <a:t>0.172%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Fraud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097280"/>
            <a:ext cx="1920240" cy="1371600"/>
          </a:xfrm>
          <a:prstGeom prst="rect">
            <a:avLst/>
          </a:prstGeom>
          <a:solidFill>
            <a:srgbClr val="1E2E6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</a:rPr>
              <a:t>2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Collection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8"/>
                </a:solidFill>
              </a:rPr>
              <a:t>Period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069080" cy="960120"/>
          </a:xfrm>
          <a:prstGeom prst="rect">
            <a:avLst/>
          </a:prstGeom>
          <a:solidFill>
            <a:srgbClr val="1E2E6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SOURCE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European cardholders, September 2013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069080" cy="960120"/>
          </a:xfrm>
          <a:prstGeom prst="rect">
            <a:avLst/>
          </a:prstGeom>
          <a:solidFill>
            <a:srgbClr val="1E2E6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CLASS IMBALANCE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03580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Highly imbalanced — frauds represent only 0.172% of all transactions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4069080" cy="960120"/>
          </a:xfrm>
          <a:prstGeom prst="rect">
            <a:avLst/>
          </a:prstGeom>
          <a:solidFill>
            <a:srgbClr val="1E2E6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40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FEATURES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13308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PCA-transformed features V1–V28, Time, Amount, and Class label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840480"/>
            <a:ext cx="4069080" cy="960120"/>
          </a:xfrm>
          <a:prstGeom prst="rect">
            <a:avLst/>
          </a:prstGeom>
          <a:solidFill>
            <a:srgbClr val="1E2E6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840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CHALLENGE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13308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 classifier that detects rare fraud events without excessive false alarms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75488" cy="111556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CF8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Exploratory Data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00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Descriptive statistics, visualizations, pattern &amp; relationship discovery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475488" cy="111556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4300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CF8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6088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76088" y="1600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 missing values, outliers, standardization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04872"/>
            <a:ext cx="475488" cy="111556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0487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CF8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2478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Imbalanced Data Handling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862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SMOTE, undersampling, or class-weight techniques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40487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04872"/>
            <a:ext cx="475488" cy="111556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404872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CF8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76088" y="2478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76088" y="2862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 &amp; transform features for improved model 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66744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66744"/>
            <a:ext cx="475488" cy="111556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66744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CF8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" y="37398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Model Selection &amp;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1239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Train/test split, select best algorithm, fit model parameters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66744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66744"/>
            <a:ext cx="475488" cy="111556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66744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CF8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76088" y="37398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Validation &amp; 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76088" y="41239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Evaluate on unseen data, detect overfitting, deploy to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Cleaning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51560"/>
            <a:ext cx="4069080" cy="3566160"/>
          </a:xfrm>
          <a:prstGeom prst="rect">
            <a:avLst/>
          </a:prstGeom>
          <a:solidFill>
            <a:srgbClr val="1E2E6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</a:rPr>
              <a:t>Exploratory Data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Distribution of transaction amounts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 imbalance visualization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Correlation heatmap (V1–V28)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Time-based fraud pattern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Outlier detection &amp; boxplots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Descriptive statistics per class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069080" cy="3566160"/>
          </a:xfrm>
          <a:prstGeom prst="rect">
            <a:avLst/>
          </a:prstGeom>
          <a:solidFill>
            <a:srgbClr val="1E2E6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</a:rPr>
              <a:t>Data Cleaning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&amp; handle missing values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&amp; treat outliers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Standardize 'Amount' &amp; 'Time' features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Ensure correct data types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 duplicate records if any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 class label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solidFill>
            <a:srgbClr val="C8DC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dataset is highly imbalanced: fraud accounts for only 0.172% of all transactions (492 of 284,807). Without correction, models will be biased toward the majority non-fraud class.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93392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93392"/>
            <a:ext cx="64008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Oversampling (SMOTE)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688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Synthetically generate minority class (fraud) samples by interpolating between existing fraud records.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993392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93392"/>
            <a:ext cx="64008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Undersampling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24688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Reduce the majority class (non-fraud) by randomly removing samples to balance class distribution.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364992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64992"/>
            <a:ext cx="6400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Class Weights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8404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 higher penalty to misclassifying minority class during model training (cost-sensitive learning).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364992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364992"/>
            <a:ext cx="64008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7"/>
                </a:solidFill>
              </a:rPr>
              <a:t>Combination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38404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both SMOTE oversampling and undersampling together for an optimal balanced dataset.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Model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51560"/>
            <a:ext cx="4069080" cy="3657600"/>
          </a:xfrm>
          <a:prstGeom prst="rect">
            <a:avLst/>
          </a:prstGeom>
          <a:solidFill>
            <a:srgbClr val="1E2E6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'Amount' with StandardScaler / RobustScaler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Encode 'Time' as hour-of-day or time delta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 ratio features (e.g., Amount vs mean)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 top features via mutual information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PCA or LDA for dimensionality reduction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 low-variance or highly correlated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069080" cy="3657600"/>
          </a:xfrm>
          <a:prstGeom prst="rect">
            <a:avLst/>
          </a:prstGeom>
          <a:solidFill>
            <a:srgbClr val="1E2E60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</a:rPr>
              <a:t>Candidate 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627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8836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linear classifier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2219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Robust ensemble, handles imbalance well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2816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XGBoost / LightGBM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0723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 boosting, top fraud-detection choice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3410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Support Vector Machine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666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Effective for high-dimensional PCA features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40050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Neural Network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42611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learning for complex patterns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Validation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</a:rPr>
              <a:t>Train / Test Split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80/20 or 70/30 stratified split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Stratification preserves class ratio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 k-fold cross-validation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Time-aware split for temporal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88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</a:rPr>
              <a:t>Evaluation Metrics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581912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Precision, Recall, F1-Score (primary)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ROC-AUC &amp; PR-AUC curves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Confusion Matrix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 &gt; 75% (minimum threshold)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632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</a:rPr>
              <a:t>Hyperparameter Tuning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Grid Search CV over parameter grid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Search for large search spaces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Bayesian Optimization (Optuna)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stopping to prevent overfitting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97180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0632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</a:rPr>
              <a:t>Model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45643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performance on held-out data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 &amp; address overfitting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Cross-validate with stratified k-folds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Compare baseline vs tuned model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2697480" cy="1600200"/>
          </a:xfrm>
          <a:prstGeom prst="rect">
            <a:avLst/>
          </a:prstGeom>
          <a:solidFill>
            <a:srgbClr val="1E2E60"/>
          </a:solidFill>
          <a:ln w="1905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Serialize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Save trained model using joblib / pickle for portability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097280"/>
            <a:ext cx="2697480" cy="1600200"/>
          </a:xfrm>
          <a:prstGeom prst="rect">
            <a:avLst/>
          </a:prstGeom>
          <a:solidFill>
            <a:srgbClr val="1E2E6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23444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9272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Wrap model in a REST API using FastAPI or Flask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097280"/>
            <a:ext cx="2697480" cy="1600200"/>
          </a:xfrm>
          <a:prstGeom prst="rect">
            <a:avLst/>
          </a:prstGeom>
          <a:solidFill>
            <a:srgbClr val="1E2E60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23444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Package app + dependencies in a Docker container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97480" cy="1600200"/>
          </a:xfrm>
          <a:prstGeom prst="rect">
            <a:avLst/>
          </a:prstGeom>
          <a:solidFill>
            <a:srgbClr val="1E2E60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6324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 to Cloud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Host on AWS / GCP / Azure with auto-scaling enabled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82112" y="2926080"/>
            <a:ext cx="2697480" cy="1600200"/>
          </a:xfrm>
          <a:prstGeom prst="rect">
            <a:avLst/>
          </a:prstGeom>
          <a:solidFill>
            <a:srgbClr val="1E2E60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3063240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9272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9272" y="4023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prediction drift, latency, and fraud detection rates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2926080"/>
            <a:ext cx="2697480" cy="1600200"/>
          </a:xfrm>
          <a:prstGeom prst="rect">
            <a:avLst/>
          </a:prstGeom>
          <a:solidFill>
            <a:srgbClr val="1E2E60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306324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27064" y="3675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Retrain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7064" y="4023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Schedule periodic retraining on fresh transaction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690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</a:rPr>
              <a:t>Deliverables (ZIP File)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Report: design choices, performance evaluation, future work discussion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 code for the full ML pipeline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README with installation &amp; execution instructions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on business value and benefits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40690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0700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7"/>
                </a:solidFill>
              </a:rPr>
              <a:t>Success Metrics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83480" y="1691640"/>
            <a:ext cx="3703320" cy="68580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647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&gt; 75%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accuracy on test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2496312"/>
            <a:ext cx="3703320" cy="68580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569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Required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Hyperparameter tuning implemented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83480" y="3300984"/>
            <a:ext cx="3703320" cy="68580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3741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Required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validation on held-out set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4105656"/>
            <a:ext cx="3703320" cy="68580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1788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Bonus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4489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Packaged ZIP with README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8"/>
                </a:solidFill>
              </a:rPr>
              <a:t>⏱  Timeline: Submit your best solution within 2 weeks of receiving this problem statement.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1E2E60">
              <a:alpha val="50000"/>
            </a:srgbClr>
          </a:solidFill>
          <a:ln w="12700">
            <a:solidFill>
              <a:srgbClr val="1E2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97280"/>
            <a:ext cx="228600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Fraud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That Works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Address class imbalance before training — it's the #1 pitfall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Prioritize Recall &amp; F1 over raw accuracy for fraud detection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Ensemble models (XGBoost, Random Forest) typically outperform baselines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Always validate on unseen data to ensure real-world generalizability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8D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 and monitoring are critical for production fraud systems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54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</a:rPr>
              <a:t>Credit Card Fraud Detection  |  </a:t>
            </a:r>
            <a:r>
              <a:rPr lang="en-US" sz="1100" dirty="0" err="1">
                <a:solidFill>
                  <a:srgbClr val="8FA8C8"/>
                </a:solidFill>
              </a:rPr>
              <a:t>Shiddalingesh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859</Words>
  <Application>Microsoft Office PowerPoint</Application>
  <PresentationFormat>On-screen Show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Harsha G</dc:creator>
  <cp:lastModifiedBy>Siddu S</cp:lastModifiedBy>
  <cp:revision>3</cp:revision>
  <dcterms:created xsi:type="dcterms:W3CDTF">2026-04-01T14:42:45Z</dcterms:created>
  <dcterms:modified xsi:type="dcterms:W3CDTF">2026-04-01T16:52:14Z</dcterms:modified>
</cp:coreProperties>
</file>